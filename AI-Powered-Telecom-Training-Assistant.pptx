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83" r:id="rId2"/>
    <p:sldId id="257" r:id="rId3"/>
    <p:sldId id="282" r:id="rId4"/>
    <p:sldId id="285" r:id="rId5"/>
    <p:sldId id="278" r:id="rId6"/>
    <p:sldId id="281" r:id="rId7"/>
    <p:sldId id="264" r:id="rId8"/>
    <p:sldId id="286" r:id="rId9"/>
    <p:sldId id="287" r:id="rId10"/>
    <p:sldId id="280" r:id="rId11"/>
    <p:sldId id="288" r:id="rId12"/>
    <p:sldId id="289" r:id="rId13"/>
    <p:sldId id="27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akshayanr2005/AI-Powered-Telecom-Training-Assistant"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29154953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AKSHAYA N 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akshayar719@gmail.com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6238608788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Education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dirty="0">
                <a:highlight>
                  <a:srgbClr val="FFFF00"/>
                </a:highlight>
              </a:rPr>
              <a:t>AI-Powered Telecom Training Assistant</a:t>
            </a:r>
            <a:endParaRPr lang="en-IN" sz="2400" b="1" dirty="0">
              <a:highlight>
                <a:srgbClr val="FFFF00"/>
              </a:highlight>
            </a:endParaRPr>
          </a:p>
        </p:txBody>
      </p:sp>
      <p:pic>
        <p:nvPicPr>
          <p:cNvPr id="5" name="Picture 4">
            <a:extLst>
              <a:ext uri="{FF2B5EF4-FFF2-40B4-BE49-F238E27FC236}">
                <a16:creationId xmlns:a16="http://schemas.microsoft.com/office/drawing/2014/main" id="{370697C5-953E-1F21-80CA-81C7C0BC37EE}"/>
              </a:ext>
            </a:extLst>
          </p:cNvPr>
          <p:cNvPicPr>
            <a:picLocks noChangeAspect="1"/>
          </p:cNvPicPr>
          <p:nvPr/>
        </p:nvPicPr>
        <p:blipFill>
          <a:blip r:embed="rId3"/>
          <a:stretch>
            <a:fillRect/>
          </a:stretch>
        </p:blipFill>
        <p:spPr>
          <a:xfrm>
            <a:off x="4041058" y="3677265"/>
            <a:ext cx="943898" cy="94733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584775"/>
          </a:xfrm>
          <a:prstGeom prst="rect">
            <a:avLst/>
          </a:prstGeom>
          <a:noFill/>
        </p:spPr>
        <p:txBody>
          <a:bodyPr wrap="square" rtlCol="0">
            <a:spAutoFit/>
          </a:bodyPr>
          <a:lstStyle/>
          <a:p>
            <a:r>
              <a:rPr lang="en-US" sz="3200" b="1" dirty="0"/>
              <a:t>Problem Statement -</a:t>
            </a:r>
            <a:endParaRPr lang="en-IN" sz="3200" b="1" dirty="0"/>
          </a:p>
        </p:txBody>
      </p:sp>
      <p:sp>
        <p:nvSpPr>
          <p:cNvPr id="5" name="TextBox 4">
            <a:extLst>
              <a:ext uri="{FF2B5EF4-FFF2-40B4-BE49-F238E27FC236}">
                <a16:creationId xmlns:a16="http://schemas.microsoft.com/office/drawing/2014/main" id="{ECBF5374-3BB6-85FF-7707-3F9C4D1A2F9B}"/>
              </a:ext>
            </a:extLst>
          </p:cNvPr>
          <p:cNvSpPr txBox="1"/>
          <p:nvPr/>
        </p:nvSpPr>
        <p:spPr>
          <a:xfrm>
            <a:off x="1140542" y="1514168"/>
            <a:ext cx="8701547" cy="4278094"/>
          </a:xfrm>
          <a:prstGeom prst="rect">
            <a:avLst/>
          </a:prstGeom>
          <a:noFill/>
        </p:spPr>
        <p:txBody>
          <a:bodyPr wrap="square">
            <a:spAutoFit/>
          </a:bodyPr>
          <a:lstStyle/>
          <a:p>
            <a:pPr>
              <a:buNone/>
            </a:pPr>
            <a:r>
              <a:rPr lang="en-IN" sz="1600" b="1" dirty="0"/>
              <a:t>The Challenge</a:t>
            </a:r>
          </a:p>
          <a:p>
            <a:pPr>
              <a:buNone/>
            </a:pPr>
            <a:r>
              <a:rPr lang="en-IN" sz="1600" dirty="0"/>
              <a:t>Telecommunication concepts such as networking, OSI model, optical </a:t>
            </a:r>
            <a:r>
              <a:rPr lang="en-IN" sz="1600" dirty="0" err="1"/>
              <a:t>fiber</a:t>
            </a:r>
            <a:r>
              <a:rPr lang="en-IN" sz="1600" dirty="0"/>
              <a:t> communication, and 5G technology are often spread across textbooks, lecture notes, and technical documents. Students spend significant time searching for reliable information and may struggle to understand complex concepts. Traditional learning methods do not provide personalized guidance or instant explanations.</a:t>
            </a:r>
          </a:p>
          <a:p>
            <a:pPr>
              <a:buNone/>
            </a:pPr>
            <a:endParaRPr lang="en-IN" sz="1600" dirty="0"/>
          </a:p>
          <a:p>
            <a:pPr>
              <a:buNone/>
            </a:pPr>
            <a:r>
              <a:rPr lang="en-IN" sz="1600" b="1" dirty="0"/>
              <a:t>Objective</a:t>
            </a:r>
          </a:p>
          <a:p>
            <a:pPr>
              <a:buNone/>
            </a:pPr>
            <a:r>
              <a:rPr lang="en-IN" sz="1600" dirty="0"/>
              <a:t>Develop an </a:t>
            </a:r>
            <a:r>
              <a:rPr lang="en-IN" sz="1600" b="1" dirty="0"/>
              <a:t>AI-Powered Telecom Training Assistant</a:t>
            </a:r>
            <a:r>
              <a:rPr lang="en-IN" sz="1600" dirty="0"/>
              <a:t> using </a:t>
            </a:r>
            <a:r>
              <a:rPr lang="en-IN" sz="1600" b="1" dirty="0"/>
              <a:t>IBM watsonx.ai</a:t>
            </a:r>
            <a:r>
              <a:rPr lang="en-IN" sz="1600" dirty="0"/>
              <a:t>, </a:t>
            </a:r>
            <a:r>
              <a:rPr lang="en-IN" sz="1600" b="1" dirty="0"/>
              <a:t>IBM Granite Models</a:t>
            </a:r>
            <a:r>
              <a:rPr lang="en-IN" sz="1600" dirty="0"/>
              <a:t>, </a:t>
            </a:r>
            <a:r>
              <a:rPr lang="en-IN" sz="1600" b="1" dirty="0" err="1"/>
              <a:t>LangFlow</a:t>
            </a:r>
            <a:r>
              <a:rPr lang="en-IN" sz="1600" dirty="0"/>
              <a:t>, and </a:t>
            </a:r>
            <a:r>
              <a:rPr lang="en-IN" sz="1600" b="1" dirty="0"/>
              <a:t>Retrieval-Augmented Generation (RAG)</a:t>
            </a:r>
            <a:r>
              <a:rPr lang="en-IN" sz="1600" dirty="0"/>
              <a:t> that:</a:t>
            </a:r>
          </a:p>
          <a:p>
            <a:pPr>
              <a:buNone/>
            </a:pPr>
            <a:endParaRPr lang="en-IN" sz="1600" dirty="0"/>
          </a:p>
          <a:p>
            <a:pPr>
              <a:buFont typeface="Arial" panose="020B0604020202020204" pitchFamily="34" charset="0"/>
              <a:buChar char="•"/>
            </a:pPr>
            <a:r>
              <a:rPr lang="en-IN" sz="1600" dirty="0"/>
              <a:t>Explains telecom concepts in simple language. </a:t>
            </a:r>
          </a:p>
          <a:p>
            <a:pPr>
              <a:buFont typeface="Arial" panose="020B0604020202020204" pitchFamily="34" charset="0"/>
              <a:buChar char="•"/>
            </a:pPr>
            <a:r>
              <a:rPr lang="en-IN" sz="1600" dirty="0"/>
              <a:t>Answers questions using uploaded telecom documents. </a:t>
            </a:r>
          </a:p>
          <a:p>
            <a:pPr>
              <a:buFont typeface="Arial" panose="020B0604020202020204" pitchFamily="34" charset="0"/>
              <a:buChar char="•"/>
            </a:pPr>
            <a:r>
              <a:rPr lang="en-IN" sz="1600" dirty="0"/>
              <a:t>Summarizes technical topics. </a:t>
            </a:r>
          </a:p>
          <a:p>
            <a:pPr>
              <a:buFont typeface="Arial" panose="020B0604020202020204" pitchFamily="34" charset="0"/>
              <a:buChar char="•"/>
            </a:pPr>
            <a:r>
              <a:rPr lang="en-IN" sz="1600" dirty="0"/>
              <a:t>Generates quizzes for self-assessment. </a:t>
            </a:r>
          </a:p>
          <a:p>
            <a:pPr>
              <a:buFont typeface="Arial" panose="020B0604020202020204" pitchFamily="34" charset="0"/>
              <a:buChar char="•"/>
            </a:pPr>
            <a:r>
              <a:rPr lang="en-IN" sz="1600" dirty="0"/>
              <a:t>Provides accurate, document-based responses. </a:t>
            </a:r>
          </a:p>
          <a:p>
            <a:pPr>
              <a:buFont typeface="Arial" panose="020B0604020202020204" pitchFamily="34" charset="0"/>
              <a:buChar char="•"/>
            </a:pPr>
            <a:r>
              <a:rPr lang="en-IN" sz="1600" dirty="0"/>
              <a:t>Supports interactive learning for students and professionals.</a:t>
            </a:r>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659285"/>
            <a:ext cx="10607040" cy="4278094"/>
          </a:xfrm>
          <a:prstGeom prst="rect">
            <a:avLst/>
          </a:prstGeom>
          <a:noFill/>
        </p:spPr>
        <p:txBody>
          <a:bodyPr wrap="square" rtlCol="0">
            <a:spAutoFit/>
          </a:bodyPr>
          <a:lstStyle/>
          <a:p>
            <a:pPr fontAlgn="base"/>
            <a:endParaRPr lang="en-US" sz="1600" b="1" dirty="0"/>
          </a:p>
          <a:p>
            <a:r>
              <a:rPr lang="en-IN" sz="1600" dirty="0"/>
              <a:t>The proposed </a:t>
            </a:r>
            <a:r>
              <a:rPr lang="en-IN" sz="1600" b="1" dirty="0"/>
              <a:t>AI-Powered Telecom Training Assistant</a:t>
            </a:r>
            <a:r>
              <a:rPr lang="en-IN" sz="1600" dirty="0"/>
              <a:t> is a Retrieval-Augmented Generation (RAG) based intelligent learning system built using </a:t>
            </a:r>
            <a:r>
              <a:rPr lang="en-IN" sz="1600" b="1" dirty="0"/>
              <a:t>IBM watsonx.ai</a:t>
            </a:r>
            <a:r>
              <a:rPr lang="en-IN" sz="1600" dirty="0"/>
              <a:t>, </a:t>
            </a:r>
            <a:r>
              <a:rPr lang="en-IN" sz="1600" b="1" dirty="0"/>
              <a:t>IBM Granite Models</a:t>
            </a:r>
            <a:r>
              <a:rPr lang="en-IN" sz="1600" dirty="0"/>
              <a:t>, </a:t>
            </a:r>
            <a:r>
              <a:rPr lang="en-IN" sz="1600" b="1" dirty="0" err="1"/>
              <a:t>LangFlow</a:t>
            </a:r>
            <a:r>
              <a:rPr lang="en-IN" sz="1600" dirty="0"/>
              <a:t>, and </a:t>
            </a:r>
            <a:r>
              <a:rPr lang="en-IN" sz="1600" b="1" dirty="0"/>
              <a:t>IBM Cloud</a:t>
            </a:r>
            <a:r>
              <a:rPr lang="en-IN" sz="1600" dirty="0"/>
              <a:t>.</a:t>
            </a:r>
          </a:p>
          <a:p>
            <a:r>
              <a:rPr lang="en-IN" sz="1600" dirty="0"/>
              <a:t>The system retrieves relevant information from uploaded telecommunication documents such as </a:t>
            </a:r>
            <a:r>
              <a:rPr lang="en-IN" sz="1600" b="1" dirty="0"/>
              <a:t>OSI Model</a:t>
            </a:r>
            <a:r>
              <a:rPr lang="en-IN" sz="1600" dirty="0"/>
              <a:t>, </a:t>
            </a:r>
            <a:r>
              <a:rPr lang="en-IN" sz="1600" b="1" dirty="0"/>
              <a:t>Optical Fiber Communication</a:t>
            </a:r>
            <a:r>
              <a:rPr lang="en-IN" sz="1600" dirty="0"/>
              <a:t>, and </a:t>
            </a:r>
            <a:r>
              <a:rPr lang="en-IN" sz="1600" b="1" dirty="0"/>
              <a:t>5G Technology</a:t>
            </a:r>
            <a:r>
              <a:rPr lang="en-IN" sz="1600" dirty="0"/>
              <a:t>. It uses a vector database to search document embeddings and IBM Granite Models to generate accurate, context-aware responses.</a:t>
            </a:r>
          </a:p>
          <a:p>
            <a:r>
              <a:rPr lang="en-IN" sz="1600" dirty="0"/>
              <a:t>The assistant can:</a:t>
            </a:r>
          </a:p>
          <a:p>
            <a:endParaRPr lang="en-IN" sz="1600" dirty="0"/>
          </a:p>
          <a:p>
            <a:r>
              <a:rPr lang="en-IN" sz="1600" dirty="0"/>
              <a:t>Answer telecom-related questions. </a:t>
            </a:r>
          </a:p>
          <a:p>
            <a:pPr marL="285750" indent="-285750">
              <a:buFont typeface="Wingdings" panose="05000000000000000000" pitchFamily="2" charset="2"/>
              <a:buChar char="§"/>
            </a:pPr>
            <a:r>
              <a:rPr lang="en-IN" sz="1600" dirty="0"/>
              <a:t>Explain technical concepts. </a:t>
            </a:r>
          </a:p>
          <a:p>
            <a:pPr marL="285750" indent="-285750">
              <a:buFont typeface="Wingdings" panose="05000000000000000000" pitchFamily="2" charset="2"/>
              <a:buChar char="§"/>
            </a:pPr>
            <a:r>
              <a:rPr lang="en-IN" sz="1600" dirty="0"/>
              <a:t>Summarize uploaded documents. </a:t>
            </a:r>
          </a:p>
          <a:p>
            <a:pPr marL="285750" indent="-285750">
              <a:buFont typeface="Wingdings" panose="05000000000000000000" pitchFamily="2" charset="2"/>
              <a:buChar char="§"/>
            </a:pPr>
            <a:r>
              <a:rPr lang="en-IN" sz="1600" dirty="0"/>
              <a:t>Generate quizzes. </a:t>
            </a:r>
          </a:p>
          <a:p>
            <a:pPr marL="285750" indent="-285750">
              <a:buFont typeface="Wingdings" panose="05000000000000000000" pitchFamily="2" charset="2"/>
              <a:buChar char="§"/>
            </a:pPr>
            <a:r>
              <a:rPr lang="en-IN" sz="1600" dirty="0"/>
              <a:t>Support interactive learning through conversational AI. </a:t>
            </a:r>
          </a:p>
          <a:p>
            <a:pPr marL="285750" indent="-285750">
              <a:buFont typeface="Wingdings" panose="05000000000000000000" pitchFamily="2" charset="2"/>
              <a:buChar char="§"/>
            </a:pPr>
            <a:r>
              <a:rPr lang="en-IN" sz="1600" dirty="0"/>
              <a:t>This solution provides a reliable and efficient learning platform while ensuring responses are based only on the uploaded knowledge base.</a:t>
            </a:r>
          </a:p>
          <a:p>
            <a:pPr fontAlgn="base"/>
            <a:endParaRPr lang="en-US" sz="1600" dirty="0"/>
          </a:p>
          <a:p>
            <a:endParaRPr lang="en-IN" sz="16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584775"/>
          </a:xfrm>
          <a:prstGeom prst="rect">
            <a:avLst/>
          </a:prstGeom>
          <a:noFill/>
        </p:spPr>
        <p:txBody>
          <a:bodyPr wrap="square" rtlCol="0">
            <a:spAutoFit/>
          </a:bodyPr>
          <a:lstStyle/>
          <a:p>
            <a:r>
              <a:rPr lang="en-US" sz="3200" b="1" dirty="0"/>
              <a:t>Proposed Solution -</a:t>
            </a:r>
            <a:endParaRPr lang="en-IN" sz="32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584775"/>
          </a:xfrm>
          <a:prstGeom prst="rect">
            <a:avLst/>
          </a:prstGeom>
          <a:noFill/>
        </p:spPr>
        <p:txBody>
          <a:bodyPr wrap="square" lIns="91440" tIns="45720" rIns="91440" bIns="45720" rtlCol="0" anchor="t">
            <a:spAutoFit/>
          </a:bodyPr>
          <a:lstStyle/>
          <a:p>
            <a:r>
              <a:rPr lang="en-US" sz="3200" b="1" dirty="0"/>
              <a:t>Technology Used</a:t>
            </a:r>
            <a:endParaRPr lang="en-IN" sz="3200" b="1" dirty="0"/>
          </a:p>
        </p:txBody>
      </p:sp>
      <p:sp>
        <p:nvSpPr>
          <p:cNvPr id="5" name="TextBox 4">
            <a:extLst>
              <a:ext uri="{FF2B5EF4-FFF2-40B4-BE49-F238E27FC236}">
                <a16:creationId xmlns:a16="http://schemas.microsoft.com/office/drawing/2014/main" id="{C735597A-4438-7220-BA6A-EA7699A65D83}"/>
              </a:ext>
            </a:extLst>
          </p:cNvPr>
          <p:cNvSpPr txBox="1"/>
          <p:nvPr/>
        </p:nvSpPr>
        <p:spPr>
          <a:xfrm>
            <a:off x="777240" y="1082073"/>
            <a:ext cx="5928852" cy="5755422"/>
          </a:xfrm>
          <a:prstGeom prst="rect">
            <a:avLst/>
          </a:prstGeom>
          <a:noFill/>
        </p:spPr>
        <p:txBody>
          <a:bodyPr wrap="square">
            <a:spAutoFit/>
          </a:bodyPr>
          <a:lstStyle/>
          <a:p>
            <a:pPr>
              <a:buNone/>
            </a:pPr>
            <a:r>
              <a:rPr lang="en-IN" sz="1600" b="1" dirty="0" err="1"/>
              <a:t>LangFlow</a:t>
            </a:r>
            <a:endParaRPr lang="en-IN" sz="1600" b="1" dirty="0"/>
          </a:p>
          <a:p>
            <a:pPr>
              <a:buNone/>
            </a:pPr>
            <a:r>
              <a:rPr lang="en-IN" sz="1600" dirty="0"/>
              <a:t>Visual platform for designing and orchestrating AI workflows.</a:t>
            </a:r>
          </a:p>
          <a:p>
            <a:pPr>
              <a:buNone/>
            </a:pPr>
            <a:endParaRPr lang="en-IN" sz="1600" dirty="0"/>
          </a:p>
          <a:p>
            <a:pPr>
              <a:buNone/>
            </a:pPr>
            <a:r>
              <a:rPr lang="en-IN" sz="1600" b="1" dirty="0"/>
              <a:t>IBM Granite Models</a:t>
            </a:r>
          </a:p>
          <a:p>
            <a:pPr>
              <a:buNone/>
            </a:pPr>
            <a:r>
              <a:rPr lang="en-IN" sz="1600" dirty="0"/>
              <a:t>Provides natural language understanding, reasoning, summarization, and question answering.</a:t>
            </a:r>
          </a:p>
          <a:p>
            <a:pPr>
              <a:buNone/>
            </a:pPr>
            <a:endParaRPr lang="en-IN" sz="1600" dirty="0"/>
          </a:p>
          <a:p>
            <a:pPr>
              <a:buNone/>
            </a:pPr>
            <a:r>
              <a:rPr lang="en-IN" sz="1600" b="1" dirty="0"/>
              <a:t>IBM watsonx.ai</a:t>
            </a:r>
          </a:p>
          <a:p>
            <a:pPr>
              <a:buNone/>
            </a:pPr>
            <a:r>
              <a:rPr lang="en-IN" sz="1600" dirty="0"/>
              <a:t>Used for AI model deployment and inference.</a:t>
            </a:r>
          </a:p>
          <a:p>
            <a:pPr>
              <a:buNone/>
            </a:pPr>
            <a:endParaRPr lang="en-IN" sz="1600" dirty="0"/>
          </a:p>
          <a:p>
            <a:pPr>
              <a:buNone/>
            </a:pPr>
            <a:r>
              <a:rPr lang="en-IN" sz="1600" b="1" dirty="0"/>
              <a:t>IBM Cloud</a:t>
            </a:r>
          </a:p>
          <a:p>
            <a:pPr>
              <a:buNone/>
            </a:pPr>
            <a:r>
              <a:rPr lang="en-IN" sz="1600" dirty="0"/>
              <a:t>Provides secure and scalable cloud infrastructure.</a:t>
            </a:r>
          </a:p>
          <a:p>
            <a:pPr>
              <a:buNone/>
            </a:pPr>
            <a:endParaRPr lang="en-IN" sz="1600" dirty="0"/>
          </a:p>
          <a:p>
            <a:pPr>
              <a:buNone/>
            </a:pPr>
            <a:r>
              <a:rPr lang="en-IN" sz="1600" b="1" dirty="0"/>
              <a:t>Retrieval-Augmented Generation (RAG)</a:t>
            </a:r>
          </a:p>
          <a:p>
            <a:pPr>
              <a:buNone/>
            </a:pPr>
            <a:r>
              <a:rPr lang="en-IN" sz="1600" dirty="0"/>
              <a:t>Retrieves relevant information from uploaded telecom documents before generating responses.</a:t>
            </a:r>
          </a:p>
          <a:p>
            <a:pPr>
              <a:buNone/>
            </a:pPr>
            <a:endParaRPr lang="en-IN" sz="1600" dirty="0"/>
          </a:p>
          <a:p>
            <a:pPr>
              <a:buNone/>
            </a:pPr>
            <a:r>
              <a:rPr lang="en-IN" sz="1600" b="1" dirty="0"/>
              <a:t>Vector Database (FAISS/</a:t>
            </a:r>
            <a:r>
              <a:rPr lang="en-IN" sz="1600" b="1" dirty="0" err="1"/>
              <a:t>ChromaDB</a:t>
            </a:r>
            <a:r>
              <a:rPr lang="en-IN" sz="1600" b="1" dirty="0"/>
              <a:t>)</a:t>
            </a:r>
          </a:p>
          <a:p>
            <a:pPr>
              <a:buNone/>
            </a:pPr>
            <a:r>
              <a:rPr lang="en-IN" sz="1600" dirty="0"/>
              <a:t>Stores document embeddings for semantic search.</a:t>
            </a:r>
          </a:p>
          <a:p>
            <a:pPr>
              <a:buNone/>
            </a:pPr>
            <a:endParaRPr lang="en-IN" sz="1600" dirty="0"/>
          </a:p>
          <a:p>
            <a:pPr>
              <a:buNone/>
            </a:pPr>
            <a:r>
              <a:rPr lang="en-IN" sz="1600" b="1" dirty="0"/>
              <a:t>PDF Knowledge Base</a:t>
            </a:r>
          </a:p>
          <a:p>
            <a:pPr>
              <a:buNone/>
            </a:pPr>
            <a:r>
              <a:rPr lang="en-IN" sz="1600" dirty="0"/>
              <a:t>Contains telecom learning materials including OSI Model, Optical Fiber Communication, and 5G Technology</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200" b="1" dirty="0" err="1">
                <a:sym typeface="Times New Roman"/>
              </a:rPr>
              <a:t>Langflow</a:t>
            </a:r>
            <a:r>
              <a:rPr lang="en-US" sz="3200" b="1" i="0" u="none" strike="noStrike" cap="none" dirty="0">
                <a:solidFill>
                  <a:srgbClr val="051D3A"/>
                </a:solidFill>
                <a:latin typeface="Times New Roman"/>
                <a:ea typeface="Times New Roman"/>
                <a:cs typeface="Times New Roman"/>
                <a:sym typeface="Times New Roman"/>
              </a:rPr>
              <a:t> </a:t>
            </a:r>
            <a:r>
              <a:rPr lang="en-US" sz="3200" b="1" dirty="0">
                <a:sym typeface="Times New Roman"/>
              </a:rPr>
              <a:t>component Used -</a:t>
            </a:r>
            <a:endParaRPr sz="32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6740307"/>
          </a:xfrm>
          <a:prstGeom prst="rect">
            <a:avLst/>
          </a:prstGeom>
          <a:noFill/>
        </p:spPr>
        <p:txBody>
          <a:bodyPr wrap="square" rtlCol="0">
            <a:spAutoFit/>
          </a:bodyPr>
          <a:lstStyle/>
          <a:p>
            <a:pPr marL="342900" indent="-342900">
              <a:buFont typeface="+mj-lt"/>
              <a:buAutoNum type="arabicPeriod"/>
            </a:pPr>
            <a:endParaRPr lang="en-US" sz="1600" dirty="0"/>
          </a:p>
          <a:p>
            <a:pPr marL="342900" indent="-342900">
              <a:buFont typeface="+mj-lt"/>
              <a:buAutoNum type="arabicPeriod"/>
            </a:pPr>
            <a:r>
              <a:rPr lang="en-IN" sz="1600" b="1" dirty="0"/>
              <a:t>Chat Input</a:t>
            </a:r>
            <a:br>
              <a:rPr lang="en-IN" sz="1600" dirty="0"/>
            </a:br>
            <a:r>
              <a:rPr lang="en-IN" sz="1600" dirty="0"/>
              <a:t>Accepts user questions related to telecommunication</a:t>
            </a:r>
          </a:p>
          <a:p>
            <a:pPr marL="342900" indent="-342900">
              <a:buFont typeface="+mj-lt"/>
              <a:buAutoNum type="arabicPeriod"/>
            </a:pPr>
            <a:endParaRPr lang="en-IN" sz="1600" dirty="0"/>
          </a:p>
          <a:p>
            <a:pPr marL="342900" indent="-342900">
              <a:buFont typeface="+mj-lt"/>
              <a:buAutoNum type="arabicPeriod"/>
            </a:pPr>
            <a:r>
              <a:rPr lang="en-IN" sz="1600" b="1" dirty="0"/>
              <a:t>IBM </a:t>
            </a:r>
            <a:r>
              <a:rPr lang="en-IN" sz="1600" b="1" dirty="0" err="1"/>
              <a:t>watsonx</a:t>
            </a:r>
            <a:r>
              <a:rPr lang="en-IN" sz="1600" b="1" dirty="0"/>
              <a:t> AI Agent</a:t>
            </a:r>
            <a:br>
              <a:rPr lang="en-IN" sz="1600" dirty="0"/>
            </a:br>
            <a:r>
              <a:rPr lang="en-IN" sz="1600" dirty="0"/>
              <a:t>Processes user queries using IBM Granite Models. </a:t>
            </a:r>
          </a:p>
          <a:p>
            <a:pPr marL="342900" indent="-342900">
              <a:buFont typeface="+mj-lt"/>
              <a:buAutoNum type="arabicPeriod"/>
            </a:pPr>
            <a:endParaRPr lang="en-IN" sz="1600" dirty="0"/>
          </a:p>
          <a:p>
            <a:pPr marL="342900" indent="-342900">
              <a:buFont typeface="+mj-lt"/>
              <a:buAutoNum type="arabicPeriod"/>
            </a:pPr>
            <a:r>
              <a:rPr lang="en-IN" sz="1600" b="1" dirty="0"/>
              <a:t>IBM Granite 4.0 Model</a:t>
            </a:r>
            <a:br>
              <a:rPr lang="en-IN" sz="1600" dirty="0"/>
            </a:br>
            <a:r>
              <a:rPr lang="en-IN" sz="1600" dirty="0"/>
              <a:t>Generates intelligent, context-aware responses. </a:t>
            </a:r>
          </a:p>
          <a:p>
            <a:pPr marL="342900" indent="-342900">
              <a:buFont typeface="+mj-lt"/>
              <a:buAutoNum type="arabicPeriod"/>
            </a:pPr>
            <a:endParaRPr lang="en-IN" sz="1600" dirty="0"/>
          </a:p>
          <a:p>
            <a:pPr marL="342900" indent="-342900">
              <a:buFont typeface="+mj-lt"/>
              <a:buAutoNum type="arabicPeriod"/>
            </a:pPr>
            <a:r>
              <a:rPr lang="en-IN" sz="1600" b="1" dirty="0"/>
              <a:t>Knowledge Base</a:t>
            </a:r>
            <a:br>
              <a:rPr lang="en-IN" sz="1600" dirty="0"/>
            </a:br>
            <a:r>
              <a:rPr lang="en-IN" sz="1600" dirty="0"/>
              <a:t>Stores telecom PDF documents for retrieval. </a:t>
            </a:r>
          </a:p>
          <a:p>
            <a:pPr marL="342900" indent="-342900">
              <a:buFont typeface="+mj-lt"/>
              <a:buAutoNum type="arabicPeriod"/>
            </a:pPr>
            <a:endParaRPr lang="en-IN" sz="1600" dirty="0"/>
          </a:p>
          <a:p>
            <a:pPr marL="342900" indent="-342900">
              <a:buFont typeface="+mj-lt"/>
              <a:buAutoNum type="arabicPeriod"/>
            </a:pPr>
            <a:r>
              <a:rPr lang="en-IN" sz="1600" b="1" dirty="0"/>
              <a:t>Retriever (RAG)</a:t>
            </a:r>
            <a:br>
              <a:rPr lang="en-IN" sz="1600" dirty="0"/>
            </a:br>
            <a:r>
              <a:rPr lang="en-IN" sz="1600" dirty="0"/>
              <a:t>Retrieves relevant document chunks. </a:t>
            </a:r>
          </a:p>
          <a:p>
            <a:pPr marL="342900" indent="-342900">
              <a:buFont typeface="+mj-lt"/>
              <a:buAutoNum type="arabicPeriod"/>
            </a:pPr>
            <a:endParaRPr lang="en-IN" sz="1600" dirty="0"/>
          </a:p>
          <a:p>
            <a:pPr marL="342900" indent="-342900">
              <a:buFont typeface="+mj-lt"/>
              <a:buAutoNum type="arabicPeriod"/>
            </a:pPr>
            <a:r>
              <a:rPr lang="en-IN" sz="1600" b="1" dirty="0"/>
              <a:t>Chat Output</a:t>
            </a:r>
            <a:br>
              <a:rPr lang="en-IN" sz="1600" dirty="0"/>
            </a:br>
            <a:r>
              <a:rPr lang="en-IN" sz="1600" dirty="0"/>
              <a:t>Displays accurate explanations and answers. </a:t>
            </a:r>
          </a:p>
          <a:p>
            <a:pPr marL="342900" indent="-342900">
              <a:buFont typeface="+mj-lt"/>
              <a:buAutoNum type="arabicPeriod"/>
            </a:pPr>
            <a:endParaRPr lang="en-US" sz="1600" dirty="0">
              <a:highlight>
                <a:srgbClr val="FFFF00"/>
              </a:highlight>
            </a:endParaRPr>
          </a:p>
          <a:p>
            <a:pPr marL="342900" indent="-342900">
              <a:buFont typeface="+mj-lt"/>
              <a:buAutoNum type="arabicPeriod"/>
            </a:pPr>
            <a:endParaRPr lang="en-US" sz="1600" dirty="0"/>
          </a:p>
          <a:p>
            <a:pPr marL="342900" indent="-342900">
              <a:buFont typeface="+mj-lt"/>
              <a:buAutoNum type="arabicPeriod"/>
            </a:pPr>
            <a:endParaRPr lang="en-US" sz="1600" dirty="0"/>
          </a:p>
          <a:p>
            <a:pPr marL="342900" indent="-342900">
              <a:buFont typeface="+mj-lt"/>
              <a:buAutoNum type="arabicPeriod"/>
            </a:pPr>
            <a:endParaRPr lang="en-US" sz="1600" dirty="0"/>
          </a:p>
          <a:p>
            <a:pPr marL="342900" indent="-342900">
              <a:buFont typeface="+mj-lt"/>
              <a:buAutoNum type="arabicPeriod"/>
            </a:pPr>
            <a:endParaRPr lang="en-US" sz="1600" dirty="0"/>
          </a:p>
          <a:p>
            <a:pPr marL="342900" indent="-342900">
              <a:buFont typeface="+mj-lt"/>
              <a:buAutoNum type="arabicPeriod"/>
            </a:pPr>
            <a:endParaRPr lang="en-US" sz="1600" dirty="0"/>
          </a:p>
          <a:p>
            <a:pPr marL="342900" indent="-342900">
              <a:buFont typeface="+mj-lt"/>
              <a:buAutoNum type="arabicPeriod"/>
            </a:pPr>
            <a:endParaRPr lang="en-US" sz="1600" dirty="0"/>
          </a:p>
          <a:p>
            <a:pPr marL="342900" indent="-342900">
              <a:buFont typeface="+mj-lt"/>
              <a:buAutoNum type="arabicPeriod"/>
            </a:pPr>
            <a:endParaRPr lang="en-US" sz="1600" dirty="0"/>
          </a:p>
          <a:p>
            <a:r>
              <a:rPr lang="en-US" sz="1600" dirty="0"/>
              <a:t> </a:t>
            </a:r>
            <a:endParaRPr lang="en-IN" sz="1600"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031873"/>
          </a:xfrm>
          <a:prstGeom prst="rect">
            <a:avLst/>
          </a:prstGeom>
          <a:noFill/>
        </p:spPr>
        <p:txBody>
          <a:bodyPr wrap="square" rtlCol="0">
            <a:spAutoFit/>
          </a:bodyPr>
          <a:lstStyle/>
          <a:p>
            <a:r>
              <a:rPr lang="en-IN" sz="1600" dirty="0"/>
              <a:t>Agentic AI enables the Telecom Training Assistant to function as an intelligent educational companion rather than a simple chatbot. It coordinates multiple tasks such as understanding user intent, retrieving relevant knowledge, reasoning over the retrieved information, and generating meaningful responses</a:t>
            </a:r>
          </a:p>
          <a:p>
            <a:r>
              <a:rPr lang="en-IN" sz="1600" dirty="0"/>
              <a:t>.</a:t>
            </a:r>
          </a:p>
          <a:p>
            <a:r>
              <a:rPr lang="en-IN" sz="1600" dirty="0"/>
              <a:t>Unlike conventional AI systems that rely only on pre-trained knowledge, the assistant uses Retrieval-Augmented Generation to access uploaded telecom documents before producing an answer. This improves the accuracy and relevance of responses while reducing incorrect or hallucinated information.</a:t>
            </a:r>
          </a:p>
          <a:p>
            <a:endParaRPr lang="en-IN" sz="1600" dirty="0"/>
          </a:p>
          <a:p>
            <a:r>
              <a:rPr lang="en-IN" sz="1600" dirty="0"/>
              <a:t>The assistant can explain technical concepts, summarize documents, generate quizzes, and provide personalized learning assistance based on the user's queries. Agentic AI continuously improves the interaction by combining retrieval, reasoning, and response generation into a single intelligent workflow, making learning more effective and engaging.</a:t>
            </a:r>
          </a:p>
          <a:p>
            <a:endParaRPr lang="en-US" sz="1600" dirty="0"/>
          </a:p>
        </p:txBody>
      </p:sp>
      <p:pic>
        <p:nvPicPr>
          <p:cNvPr id="5" name="Picture 4">
            <a:extLst>
              <a:ext uri="{FF2B5EF4-FFF2-40B4-BE49-F238E27FC236}">
                <a16:creationId xmlns:a16="http://schemas.microsoft.com/office/drawing/2014/main" id="{90FC2911-2AEB-8BC6-DB8F-D92B61813434}"/>
              </a:ext>
            </a:extLst>
          </p:cNvPr>
          <p:cNvPicPr>
            <a:picLocks noChangeAspect="1"/>
          </p:cNvPicPr>
          <p:nvPr/>
        </p:nvPicPr>
        <p:blipFill>
          <a:blip r:embed="rId3"/>
          <a:stretch>
            <a:fillRect/>
          </a:stretch>
        </p:blipFill>
        <p:spPr>
          <a:xfrm>
            <a:off x="8099421" y="1307691"/>
            <a:ext cx="3470787" cy="347078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698581" y="238825"/>
            <a:ext cx="7123176" cy="584775"/>
          </a:xfrm>
          <a:prstGeom prst="rect">
            <a:avLst/>
          </a:prstGeom>
          <a:noFill/>
        </p:spPr>
        <p:txBody>
          <a:bodyPr wrap="square" rtlCol="0">
            <a:spAutoFit/>
          </a:bodyPr>
          <a:lstStyle/>
          <a:p>
            <a:r>
              <a:rPr lang="en-US" sz="3200" b="1" dirty="0"/>
              <a:t>Novelty and Uniqueness</a:t>
            </a:r>
            <a:endParaRPr lang="en-IN" sz="32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2800767"/>
          </a:xfrm>
          <a:prstGeom prst="rect">
            <a:avLst/>
          </a:prstGeom>
          <a:noFill/>
        </p:spPr>
        <p:txBody>
          <a:bodyPr wrap="square" rtlCol="0">
            <a:spAutoFit/>
          </a:bodyPr>
          <a:lstStyle/>
          <a:p>
            <a:r>
              <a:rPr lang="en-IN" sz="1600" dirty="0"/>
              <a:t>The AI-Powered Telecom Training Assistant introduces a modern approach to technical education by combining Retrieval-Augmented Generation with IBM Granite Models. Unlike traditional chatbots, it retrieves information directly from uploaded telecom documents before generating responses, ensuring high accuracy and reliability.</a:t>
            </a:r>
          </a:p>
          <a:p>
            <a:endParaRPr lang="en-IN" sz="1600" dirty="0"/>
          </a:p>
          <a:p>
            <a:r>
              <a:rPr lang="en-IN" sz="1600" dirty="0"/>
              <a:t>The system explains complex topics in simple language, generates quizzes for self-assessment, summarizes lengthy documents, and supports conversational learning. It is easy to update by uploading new learning materials, making it scalable for future technologies such as IoT and 6G.</a:t>
            </a:r>
          </a:p>
          <a:p>
            <a:endParaRPr lang="en-IN" sz="1600" dirty="0"/>
          </a:p>
          <a:p>
            <a:r>
              <a:rPr lang="en-IN" sz="1600" dirty="0"/>
              <a:t>The use of IBM watsonx.ai, </a:t>
            </a:r>
            <a:r>
              <a:rPr lang="en-IN" sz="1600" dirty="0" err="1"/>
              <a:t>LangFlow</a:t>
            </a:r>
            <a:r>
              <a:rPr lang="en-IN" sz="1600" dirty="0"/>
              <a:t>, semantic search, and vector databases creates an intelligent learning platform that provides personalized and document-based educational support.</a:t>
            </a:r>
          </a:p>
          <a:p>
            <a:endParaRPr lang="en-IN" sz="1600" dirty="0"/>
          </a:p>
        </p:txBody>
      </p:sp>
    </p:spTree>
    <p:extLst>
      <p:ext uri="{BB962C8B-B14F-4D97-AF65-F5344CB8AC3E}">
        <p14:creationId xmlns:p14="http://schemas.microsoft.com/office/powerpoint/2010/main" val="91796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200" b="1" dirty="0">
                <a:sym typeface="Times New Roman"/>
              </a:rPr>
              <a:t>Git Hub Link</a:t>
            </a:r>
            <a:endParaRPr sz="32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696488"/>
            <a:ext cx="9214580" cy="4277001"/>
          </a:xfrm>
          <a:prstGeom prst="rect">
            <a:avLst/>
          </a:prstGeom>
          <a:noFill/>
          <a:ln>
            <a:noFill/>
          </a:ln>
        </p:spPr>
        <p:txBody>
          <a:bodyPr spcFirstLastPara="1" wrap="square" lIns="0" tIns="0" rIns="0" bIns="0" anchor="t" anchorCtr="0">
            <a:noAutofit/>
          </a:bodyPr>
          <a:lstStyle/>
          <a:p>
            <a:r>
              <a:rPr lang="en-IN" sz="1600" dirty="0">
                <a:latin typeface="+mn-lt"/>
              </a:rPr>
              <a:t>Repository Name:</a:t>
            </a:r>
            <a:br>
              <a:rPr lang="en-IN" sz="1600" dirty="0">
                <a:latin typeface="+mn-lt"/>
              </a:rPr>
            </a:br>
            <a:r>
              <a:rPr lang="en-IN" sz="1600" b="1" dirty="0">
                <a:latin typeface="+mn-lt"/>
              </a:rPr>
              <a:t>AI-Powered-Telecom-Training-Assistant</a:t>
            </a:r>
          </a:p>
          <a:p>
            <a:endParaRPr lang="en-IN" sz="1600" dirty="0">
              <a:latin typeface="+mn-lt"/>
            </a:endParaRPr>
          </a:p>
          <a:p>
            <a:r>
              <a:rPr lang="en-IN" sz="1600" dirty="0" err="1">
                <a:latin typeface="+mn-lt"/>
              </a:rPr>
              <a:t>Github</a:t>
            </a:r>
            <a:r>
              <a:rPr lang="en-IN" sz="1600" dirty="0">
                <a:latin typeface="+mn-lt"/>
              </a:rPr>
              <a:t> URL</a:t>
            </a:r>
            <a:br>
              <a:rPr lang="en-IN" sz="1600" dirty="0">
                <a:latin typeface="+mn-lt"/>
              </a:rPr>
            </a:br>
            <a:r>
              <a:rPr lang="en-IN" sz="1600" b="1" dirty="0">
                <a:latin typeface="+mn-lt"/>
                <a:hlinkClick r:id="rId3"/>
              </a:rPr>
              <a:t>https://github.com/akshayanr2005/AI-Powered-Telecom-Training-Assistant</a:t>
            </a:r>
            <a:endParaRPr lang="en-IN" sz="1600" dirty="0">
              <a:latin typeface="+mn-lt"/>
            </a:endParaRPr>
          </a:p>
          <a:p>
            <a:pPr marL="0" marR="0" lvl="0" indent="0" algn="l" rtl="0">
              <a:lnSpc>
                <a:spcPct val="162162"/>
              </a:lnSpc>
              <a:spcBef>
                <a:spcPts val="0"/>
              </a:spcBef>
              <a:spcAft>
                <a:spcPts val="0"/>
              </a:spcAft>
              <a:buClr>
                <a:srgbClr val="2B3541"/>
              </a:buClr>
              <a:buSzPts val="1850"/>
              <a:buFont typeface="Times New Roman"/>
              <a:buNone/>
            </a:pPr>
            <a:endParaRPr sz="1600" b="0" i="0" u="none" strike="noStrike" cap="none" dirty="0">
              <a:solidFill>
                <a:srgbClr val="000000"/>
              </a:solidFill>
              <a:latin typeface="+mn-lt"/>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200" b="1" dirty="0">
                <a:sym typeface="Times New Roman"/>
              </a:rPr>
              <a:t>Future Scope </a:t>
            </a:r>
            <a:endParaRPr sz="32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1800" dirty="0"/>
              <a:t>The AI-Powered Telecom Training Assistant can be extended with several advanced features in the future. Voice-based interaction can enable hands-free learning using speech recognition and text-to-speech technologies. Multilingual support can make the system accessible to students from different linguistic backgrounds.</a:t>
            </a:r>
          </a:p>
          <a:p>
            <a:endParaRPr lang="en-IN" sz="1800" dirty="0"/>
          </a:p>
          <a:p>
            <a:r>
              <a:rPr lang="en-IN" sz="1800" dirty="0"/>
              <a:t>The assistant can be integrated with networking simulators to provide practical demonstrations alongside theoretical explanations. Future versions may include personalized learning recommendations, adaptive quizzes, progress tracking, and AI-generated study plans.</a:t>
            </a:r>
          </a:p>
          <a:p>
            <a:endParaRPr lang="en-IN" sz="1800" dirty="0"/>
          </a:p>
          <a:p>
            <a:r>
              <a:rPr lang="en-IN" sz="1800" dirty="0"/>
              <a:t>Support for emerging technologies such as Internet of Things (IoT), Software Defined Networking (SDN), Cloud Networking, and 6G Communication can further enhance the assistant and make it a comprehensive learning platform for telecommunication education.</a:t>
            </a:r>
          </a:p>
          <a:p>
            <a:pPr marL="0" marR="0" lvl="0" indent="0" algn="l" rtl="0">
              <a:lnSpc>
                <a:spcPct val="162162"/>
              </a:lnSpc>
              <a:spcBef>
                <a:spcPts val="0"/>
              </a:spcBef>
              <a:spcAft>
                <a:spcPts val="0"/>
              </a:spcAft>
              <a:buClr>
                <a:srgbClr val="2B3541"/>
              </a:buClr>
              <a:buSzPts val="1850"/>
              <a:buFont typeface="Times New Roman"/>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t>Certificates Earned:</a:t>
            </a:r>
          </a:p>
          <a:p>
            <a:pPr algn="ctr"/>
            <a:endParaRPr lang="en-US" sz="3200" dirty="0"/>
          </a:p>
        </p:txBody>
      </p:sp>
      <p:pic>
        <p:nvPicPr>
          <p:cNvPr id="8" name="Picture 7">
            <a:extLst>
              <a:ext uri="{FF2B5EF4-FFF2-40B4-BE49-F238E27FC236}">
                <a16:creationId xmlns:a16="http://schemas.microsoft.com/office/drawing/2014/main" id="{ABF8428C-B09C-AD83-0A1C-62EBB5477B66}"/>
              </a:ext>
            </a:extLst>
          </p:cNvPr>
          <p:cNvPicPr>
            <a:picLocks noChangeAspect="1"/>
          </p:cNvPicPr>
          <p:nvPr/>
        </p:nvPicPr>
        <p:blipFill>
          <a:blip r:embed="rId2"/>
          <a:stretch>
            <a:fillRect/>
          </a:stretch>
        </p:blipFill>
        <p:spPr>
          <a:xfrm>
            <a:off x="1338336" y="1367169"/>
            <a:ext cx="7529212" cy="5126621"/>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i="0" u="none" strike="noStrike" baseline="0" dirty="0">
                <a:solidFill>
                  <a:srgbClr val="000000"/>
                </a:solidFill>
                <a:latin typeface="Arial"/>
              </a:rPr>
              <a:t>Certificates Earned:</a:t>
            </a:r>
            <a:r>
              <a:rPr sz="3200" b="0" i="0" dirty="0">
                <a:solidFill>
                  <a:srgbClr val="000000"/>
                </a:solidFill>
                <a:latin typeface="Arial"/>
                <a:ea typeface="Arial"/>
                <a:cs typeface="Arial"/>
              </a:rPr>
              <a:t>​</a:t>
            </a:r>
            <a:endParaRPr lang="en-US" sz="3200" dirty="0"/>
          </a:p>
          <a:p>
            <a:pPr algn="ctr"/>
            <a:endParaRPr lang="en-US" sz="3200" dirty="0"/>
          </a:p>
        </p:txBody>
      </p:sp>
      <p:pic>
        <p:nvPicPr>
          <p:cNvPr id="3" name="Picture 2">
            <a:extLst>
              <a:ext uri="{FF2B5EF4-FFF2-40B4-BE49-F238E27FC236}">
                <a16:creationId xmlns:a16="http://schemas.microsoft.com/office/drawing/2014/main" id="{0670DF89-311E-9774-5884-08A4DD9A6AC9}"/>
              </a:ext>
            </a:extLst>
          </p:cNvPr>
          <p:cNvPicPr>
            <a:picLocks noChangeAspect="1"/>
          </p:cNvPicPr>
          <p:nvPr/>
        </p:nvPicPr>
        <p:blipFill>
          <a:blip r:embed="rId2"/>
          <a:stretch>
            <a:fillRect/>
          </a:stretch>
        </p:blipFill>
        <p:spPr>
          <a:xfrm>
            <a:off x="1699619" y="1477578"/>
            <a:ext cx="8610164" cy="4952719"/>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887</Words>
  <Application>Microsoft Office PowerPoint</Application>
  <PresentationFormat>Widescreen</PresentationFormat>
  <Paragraphs>110</Paragraphs>
  <Slides>13</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Akshaya Rajesh</cp:lastModifiedBy>
  <cp:revision>43</cp:revision>
  <dcterms:created xsi:type="dcterms:W3CDTF">2025-07-08T05:06:56Z</dcterms:created>
  <dcterms:modified xsi:type="dcterms:W3CDTF">2026-07-11T04:41:17Z</dcterms:modified>
</cp:coreProperties>
</file>